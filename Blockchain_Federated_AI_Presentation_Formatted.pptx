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03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784080" y="1303020"/>
            <a:ext cx="1143000" cy="210312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303020"/>
            <a:ext cx="548640" cy="54864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1851660"/>
            <a:ext cx="914400" cy="32004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784080" y="1513332"/>
            <a:ext cx="777240" cy="658368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513332"/>
            <a:ext cx="137160" cy="429768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1943100"/>
            <a:ext cx="914400" cy="22860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38360" y="1467612"/>
            <a:ext cx="91440" cy="9144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1257300"/>
            <a:ext cx="91440" cy="9144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02568" y="1778508"/>
            <a:ext cx="146304" cy="146304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2125980"/>
            <a:ext cx="91440" cy="9144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1897380"/>
            <a:ext cx="91440" cy="9144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57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172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Blockchain-Enabled Federated AI Framework
</a:t>
            </a: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Secure Distributed Intelligence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03072" y="2482596"/>
            <a:ext cx="11185855" cy="2148840"/>
          </a:xfrm>
          <a:prstGeom prst="roundRect">
            <a:avLst>
              <a:gd name="adj" fmla="val 4681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868832" y="256277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832" y="2881395"/>
            <a:ext cx="10454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AI architectures expose sensitive data to single points of failure, breaches, and mistrust among collaborating organizations. This project introduces a decentralized framework merging Federated Learning (FL) with Permissioned Blockchain technology. By coordinating model aggregation through Smart Contracts, multi-institutional participants (Healthcare, Banking, IoT) jointly train high-accuracy intrusion detection models on the CICIDS2017 dataset without exchanging raw network telemetry. The framework provides mathematical privacy guarantees, Byzantine-fault tolerance, and an immutable, verifiable audit trail for regulatory compliance.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3072" y="4768596"/>
            <a:ext cx="11185855" cy="1440180"/>
          </a:xfrm>
          <a:prstGeom prst="roundRect">
            <a:avLst>
              <a:gd name="adj" fmla="val 12941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831" y="504520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Team Members –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Ganesh Kumar – RA2311026010750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G. S. Jithesh – RA2311026010752</a:t>
            </a:r>
            <a:br>
              <a:rPr lang="en-US" sz="1400" dirty="0">
                <a:solidFill>
                  <a:schemeClr val="accent1"/>
                </a:solidFill>
              </a:rPr>
            </a:br>
            <a:r>
              <a:rPr lang="en-US" sz="1400" dirty="0">
                <a:solidFill>
                  <a:schemeClr val="accent1"/>
                </a:solidFill>
              </a:rPr>
              <a:t>Naram Sethu Harsha Vardhan – RA2311026010777</a:t>
            </a:r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BLOCKCHAIN-ENABLED FEDERATED AI FRAMEWORK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Distributed Intelligence Needs a Trust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the fundamental vulnerabilities of centralized AI and standalone Federated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15184" cy="288036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075688"/>
            <a:ext cx="566928" cy="56692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Imperative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telemetry and sensitive records (EHR, financial logs) must never leave source boundaries due to GDPR, HIPAA, and PCI-DSS compliance.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15184" cy="288036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075688"/>
            <a:ext cx="566928" cy="566928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3592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SPoF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FL relies on a single central parameter server. If compromised, DDoS'd, or corrupted, the entire global network fails.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15184" cy="288036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2075688"/>
            <a:ext cx="566928" cy="566928"/>
          </a:xfrm>
          <a:prstGeom prst="ellipse">
            <a:avLst/>
          </a:prstGeom>
          <a:solidFill>
            <a:srgbClr val="F59E0B">
              <a:alpha val="2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8232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Poisoning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nodes can inject poisoned gradients or backdoor triggers. Blockchain enables verification and filtering before aggregation.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1828800"/>
            <a:ext cx="2615184" cy="288036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075688"/>
            <a:ext cx="566928" cy="566928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62872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62872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record all training rounds, client contributions, and model weight states on a tamper-proof distributed ledger.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983480"/>
            <a:ext cx="11185855" cy="777240"/>
          </a:xfrm>
          <a:prstGeom prst="roundRect">
            <a:avLst>
              <a:gd name="adj" fmla="val 12941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83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 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safeguard targets a distinct failure mode — together they form the trust layer distributed intelligence needs.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Vulnerabilities in Modern Collaborative Machine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technical bottlenecks of centralized intelligence and conventional Federated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58384" cy="2212848"/>
          </a:xfrm>
          <a:prstGeom prst="roundRect">
            <a:avLst>
              <a:gd name="adj" fmla="val 4545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65376"/>
            <a:ext cx="420624" cy="420624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2728" y="1865376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Centralization &amp; Privacy Breaches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3816" y="2404872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Centralizing multi-institutional network traffic logs into a single data lake violates data residency laws, incurs massive bandwidth costs, and exposes confidential intellectual property to catastrophic breaches.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3816" y="34472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  </a:t>
            </a:r>
            <a:r>
              <a:rPr lang="en-US" sz="1050" dirty="0">
                <a:solidFill>
                  <a:srgbClr val="D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legal penalties (GDPR/HIPAA) &amp; single point of data exfiltration.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44184" y="1691640"/>
            <a:ext cx="5358384" cy="2212848"/>
          </a:xfrm>
          <a:prstGeom prst="roundRect">
            <a:avLst>
              <a:gd name="adj" fmla="val 4545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1865376"/>
            <a:ext cx="420624" cy="420624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93992" y="1865376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Aggregator Single Point of Failure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404872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Federated Learning (e.g., standard FedAvg) depends entirely on a central aggregator server. If this coordinator is compromised, malicious, or goes offline, the training process is halted or manipulated.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34472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  </a:t>
            </a:r>
            <a:r>
              <a:rPr lang="en-US" sz="1050" dirty="0">
                <a:solidFill>
                  <a:srgbClr val="D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outage, rogue parameter injection, and lack of trust.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5358384" cy="2212848"/>
          </a:xfrm>
          <a:prstGeom prst="roundRect">
            <a:avLst>
              <a:gd name="adj" fmla="val 4545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261104"/>
            <a:ext cx="420624" cy="420624"/>
          </a:xfrm>
          <a:prstGeom prst="ellipse">
            <a:avLst/>
          </a:prstGeom>
          <a:solidFill>
            <a:srgbClr val="F59E0B">
              <a:alpha val="2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2728" y="4261104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Poisoning &amp; Sybil Attacks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" y="480060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decentralized consensus and verification, malicious clients can upload crafted gradient updates to poison the global model, degrading intrusion detection accuracy or embedding covert backdoors.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" y="5843016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  </a:t>
            </a:r>
            <a:r>
              <a:rPr lang="en-US" sz="1050" dirty="0">
                <a:solidFill>
                  <a:srgbClr val="D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zero-day network attacks and false sense of security.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44184" y="4087368"/>
            <a:ext cx="5358384" cy="2212848"/>
          </a:xfrm>
          <a:prstGeom prst="roundRect">
            <a:avLst>
              <a:gd name="adj" fmla="val 4545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54496" y="4261104"/>
            <a:ext cx="420624" cy="42062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3992" y="4261104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Lack of Verifiable Audit Trails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80060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systems do not maintain a tamper-evident log of participant updates, aggregation formulas, or model evolution, making post-incident forensics and compliance validation impossible.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5843016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  </a:t>
            </a:r>
            <a:r>
              <a:rPr lang="en-US" sz="1050" dirty="0">
                <a:solidFill>
                  <a:srgbClr val="D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prove non-tampering or attribute rogue updates.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Architectural Goals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design goals established to create an enterprise-grade decentralized AI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160520" cy="4709160"/>
          </a:xfrm>
          <a:prstGeom prst="roundRect">
            <a:avLst>
              <a:gd name="adj" fmla="val 2418"/>
            </a:avLst>
          </a:prstGeom>
          <a:solidFill>
            <a:srgbClr val="141C2B"/>
          </a:solidFill>
          <a:ln w="9525">
            <a:solidFill>
              <a:srgbClr val="3B82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3429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implement, and benchmark a decentralized, privacy-preserving Federated Learning framework governed by Blockchain Smart Contracts, enabling mutually untrusting institutions to collaboratively train state-of-the-art Intrusion Detection Systems (IDS) on the CICIDS2017 dataset without revealing private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82896" y="1783080"/>
            <a:ext cx="6805879" cy="1078992"/>
          </a:xfrm>
          <a:prstGeom prst="roundRect">
            <a:avLst>
              <a:gd name="adj" fmla="val 9322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65776" y="2121408"/>
            <a:ext cx="402336" cy="402336"/>
          </a:xfrm>
          <a:prstGeom prst="ellipse">
            <a:avLst/>
          </a:prstGeom>
          <a:solidFill>
            <a:srgbClr val="38BDF8">
              <a:alpha val="2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68696" y="1911096"/>
            <a:ext cx="5891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On-Premise Training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68696" y="2240280"/>
            <a:ext cx="5891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local feature extraction and gradient computation on CICIDS2017 partitions without raw telemetry leaving local boundaries.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82896" y="3008376"/>
            <a:ext cx="6805879" cy="1078992"/>
          </a:xfrm>
          <a:prstGeom prst="roundRect">
            <a:avLst>
              <a:gd name="adj" fmla="val 9322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65776" y="3346704"/>
            <a:ext cx="402336" cy="402336"/>
          </a:xfrm>
          <a:prstGeom prst="ellipse">
            <a:avLst/>
          </a:prstGeom>
          <a:solidFill>
            <a:srgbClr val="38BDF8">
              <a:alpha val="2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68696" y="3136392"/>
            <a:ext cx="5891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Contract-Based Federated Aggregation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68696" y="3465576"/>
            <a:ext cx="5891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central parameter servers with automated, decentralized smart contracts executing deterministic FedAvg.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82896" y="4233672"/>
            <a:ext cx="6805879" cy="1078992"/>
          </a:xfrm>
          <a:prstGeom prst="roundRect">
            <a:avLst>
              <a:gd name="adj" fmla="val 9322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65776" y="4572000"/>
            <a:ext cx="402336" cy="402336"/>
          </a:xfrm>
          <a:prstGeom prst="ellipse">
            <a:avLst/>
          </a:prstGeom>
          <a:solidFill>
            <a:srgbClr val="38BDF8">
              <a:alpha val="2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5776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68696" y="4361688"/>
            <a:ext cx="5891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Verification &amp; Poisoning Defense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68696" y="4690872"/>
            <a:ext cx="5891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client signatures, verify weight update integrity with SHA-256 hashes, and enforce Byzantine-robust anomaly filtering.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82896" y="5458968"/>
            <a:ext cx="6805879" cy="1078992"/>
          </a:xfrm>
          <a:prstGeom prst="roundRect">
            <a:avLst>
              <a:gd name="adj" fmla="val 9322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65776" y="5797296"/>
            <a:ext cx="402336" cy="402336"/>
          </a:xfrm>
          <a:prstGeom prst="ellipse">
            <a:avLst/>
          </a:prstGeom>
          <a:solidFill>
            <a:srgbClr val="38BDF8">
              <a:alpha val="2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68696" y="5586984"/>
            <a:ext cx="5891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Auditability &amp; Compliance Ledger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68696" y="5916168"/>
            <a:ext cx="5891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aggregation round, participating node ID, and resulting global model hash on a tamper-proof blockchain.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Profiles &amp; Cross-Industry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stakeholders who directly benefit from privacy-preserving decentralized threat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15184" cy="420624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002536"/>
            <a:ext cx="566928" cy="56692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&amp; Hospitals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" y="3410712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regulations prohibit sharing patient telemetry or internal hospital network logs.
</a:t>
            </a: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VALUE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collaboratively train ransomware and infiltration detection models while patient data remains securely isolated on-premise.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615184" cy="420624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002536"/>
            <a:ext cx="566928" cy="566928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3592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Banking Consortia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93592" y="3410712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&amp; GLBA strictly govern financial data; competitive banks cannot share proprietary infrastructure logs.
</a:t>
            </a:r>
            <a:r>
              <a:rPr lang="en-US" sz="10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VALUE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co-develop DDoS and botnet defense models without leaking transaction patterns or account-holder activity.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2615184" cy="420624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2002536"/>
            <a:ext cx="566928" cy="566928"/>
          </a:xfrm>
          <a:prstGeom prst="ellipse">
            <a:avLst/>
          </a:prstGeom>
          <a:solidFill>
            <a:srgbClr val="F59E0B">
              <a:alpha val="2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8232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IoT &amp; Smart Infrastructure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28232" y="3410712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gateways, power grids, and smart cities have bandwidth limitations and high vulnerability to zero-day attacks.
</a:t>
            </a: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VALUE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lightweight, decentralized anomaly detection across heterogeneous edge sensors without central backhaul.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783080"/>
            <a:ext cx="2615184" cy="420624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002536"/>
            <a:ext cx="566928" cy="566928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62872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&amp; Regulatory Auditors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62872" y="3410712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verifiable provenance and difficulty proving non-tampering during security audits.
</a:t>
            </a:r>
            <a:r>
              <a:rPr lang="en-US" sz="10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VALUE
</a:t>
            </a: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provides an immutable log of every model iteration, training participant, and transaction hash for compliance.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Existing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baseline federated learning, blockchain AI systems, and identified research gaps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299983"/>
              </p:ext>
            </p:extLst>
          </p:nvPr>
        </p:nvGraphicFramePr>
        <p:xfrm>
          <a:off x="502919" y="1691640"/>
          <a:ext cx="11289388" cy="3255264"/>
        </p:xfrm>
        <a:graphic>
          <a:graphicData uri="http://schemas.openxmlformats.org/drawingml/2006/table">
            <a:tbl>
              <a:tblPr/>
              <a:tblGrid>
                <a:gridCol w="1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8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Author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Proposed Methodology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Key Advantages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Identified Limitations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Gap Addressed Here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McMahan et al. 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Federated Learning via FedAvg algorithm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Local data privacy, reduced bandwidth transfer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Central parameter server is a single point of failure (SPoF)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Decentralized Smart Contract Aggregator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Sharafaldin et al. 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CICIDS2017 intrusion benchmark dataset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Diverse realistic attack vectors (14 classes)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Benchmark designed for centralized ML training only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Partitioned Multi-Client Federated Benchmark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Kim et al.  [BlockFL]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On-device FL with PoW blockchain exchange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Removed central server, decentralized rewards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High PoW consensus latency, gas cost overhead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Lightweight Permissioned Smart Contract Design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Lu et al. 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Blockchain data sharing for Industrial IoT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Secure model sharing &amp; client incentive logic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Lacks cryptographic anomaly verification for poisoning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SHA-256 Hash Verification &amp; Anomaly Shield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Ramanan et al.  [BAFFLE]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Blockchain FL with smart contracts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Verifiable aggregation using smart contracts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9B4C6"/>
                          </a:solidFill>
                        </a:rPr>
                        <a:t>High on-chain compute cost for large neural weights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Hybrid On-Chain Proof / Off-Chain Compute 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349240"/>
            <a:ext cx="11185855" cy="777240"/>
          </a:xfrm>
          <a:prstGeom prst="roundRect">
            <a:avLst>
              <a:gd name="adj" fmla="val 12941"/>
            </a:avLst>
          </a:prstGeom>
          <a:solidFill>
            <a:srgbClr val="141C2B"/>
          </a:solidFill>
          <a:ln w="9525">
            <a:solidFill>
              <a:srgbClr val="38BDF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CONTRIBUTION   </a:t>
            </a: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lightweight smart-contract consensus and deep intrusion detection on CICIDS2017 without on-chain computation bottlenecks.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Blockchain-Enabled Federated AI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 ensuring zero-trust verification, local data isolation, and smart contract orchestration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3529584" cy="3977640"/>
          </a:xfrm>
          <a:prstGeom prst="roundRect">
            <a:avLst>
              <a:gd name="adj" fmla="val 2850"/>
            </a:avLst>
          </a:prstGeom>
          <a:solidFill>
            <a:srgbClr val="182234"/>
          </a:solidFill>
          <a:ln w="9525">
            <a:solidFill>
              <a:srgbClr val="3B82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911096"/>
            <a:ext cx="457200" cy="457200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2" y="19202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CLIENT LAYER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Hospital A (Healthcare Node)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Private EHR &amp; medical network logs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Local PyTorch/TensorFlow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465576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Bank B (Financial Node)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PCI-DSS protected banking traffic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Local gradient step computation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IoT Node C (Edge Gateway)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Edge sensor telemetry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Lightweight local parameter update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crosses node perimeter. Only weights are hashed.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0792" y="3607308"/>
            <a:ext cx="274320" cy="274320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2544" y="1755648"/>
            <a:ext cx="3529584" cy="3977640"/>
          </a:xfrm>
          <a:prstGeom prst="roundRect">
            <a:avLst>
              <a:gd name="adj" fmla="val 2850"/>
            </a:avLst>
          </a:prstGeom>
          <a:solidFill>
            <a:srgbClr val="182234"/>
          </a:solidFill>
          <a:ln w="9525">
            <a:solidFill>
              <a:srgbClr val="A855F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911096"/>
            <a:ext cx="457200" cy="457200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65776" y="19202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SMART CONTRACT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26864" y="2532888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Consensus &amp; Authentication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Verifies digital signatures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Rejects Sybil / unverified nodes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6864" y="3465576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Update Verification Pipeline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Computes SHA-256 weight hashes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Byzantine anomaly filtering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Deterministic FedAvg Contract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Automated parameter aggregation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Tamper-proof on-chain execution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6864" y="51663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centralized server vulnerability.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0416" y="3607308"/>
            <a:ext cx="274320" cy="274320"/>
          </a:xfrm>
          <a:prstGeom prst="rightArrow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202168" y="1755648"/>
            <a:ext cx="3529584" cy="3977640"/>
          </a:xfrm>
          <a:prstGeom prst="roundRect">
            <a:avLst>
              <a:gd name="adj" fmla="val 2850"/>
            </a:avLst>
          </a:prstGeom>
          <a:solidFill>
            <a:srgbClr val="182234"/>
          </a:solidFill>
          <a:ln w="9525">
            <a:solidFill>
              <a:srgbClr val="34D3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75904" y="1911096"/>
            <a:ext cx="457200" cy="457200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15400" y="192024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MODEL &amp; LEDGER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76488" y="2532888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Updated Global AI Model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Aggregated global weight vector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Broadcast back to Tier 1 clients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76488" y="3465576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Immutable Audit Ledger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Round #, Tx Hash, Timestamp, Contributor IDs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76488" y="4398264"/>
            <a:ext cx="2980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SOC Monitoring Dashboard
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Real-time convergence tracking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Verifiable forensic log for audits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76488" y="51663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secure, auditable distributed IDS.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943600"/>
            <a:ext cx="11185855" cy="502920"/>
          </a:xfrm>
          <a:prstGeom prst="roundRect">
            <a:avLst>
              <a:gd name="adj" fmla="val 20000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9436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 →  Local Train  →  Signed Hash  →  Smart Contract Verify  →  FedAvg  →  Ledger Log  →  Global Broadcast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Functional System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software engineering design enabling end-to-end decentralized training and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938528"/>
            <a:ext cx="420624" cy="420624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6152" y="192938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Partitioning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Ingests CICIDS2017 traffic flow logs.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Normalizes 78 continuous numerical features.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Partitions data into Non-IID subsets for Hospital, Bank, and IoT clients.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78308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9704" y="1938528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92938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Federated Training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0288" y="244144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Deploys on edge/client nodes.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Trains local deep neural network / IDS classifier.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Computes delta gradient updates on private partitions without data leaks.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9016" y="178308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1938528"/>
            <a:ext cx="420624" cy="420624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42248" y="192938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Verification Module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03336" y="244144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SHA-256 digital fingerprint of weight vectors.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Signs payload with client private key.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Prevents man-in-the-middle tampering during transmission.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4270248"/>
            <a:ext cx="420624" cy="420624"/>
          </a:xfrm>
          <a:prstGeom prst="ellipse">
            <a:avLst/>
          </a:prstGeom>
          <a:solidFill>
            <a:srgbClr val="F59E0B">
              <a:alpha val="2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16152" y="426110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Aggregation Engine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477316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Executes automated on-chain Federated Averaging (FedAvg).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Filters outlier/poisoned gradient submissions.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Calculates updated global model weight tensors.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411480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9704" y="4270248"/>
            <a:ext cx="420624" cy="420624"/>
          </a:xfrm>
          <a:prstGeom prst="ellipse">
            <a:avLst/>
          </a:prstGeom>
          <a:solidFill>
            <a:srgbClr val="F472B6">
              <a:alpha val="22000"/>
            </a:srgbClr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9704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426110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 &amp; Logging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90288" y="477316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Appends transaction hashes, block indices, and round stats.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Provides cryptographic proof of aggregation integrity.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export for SOC compliance audits.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29016" y="4114800"/>
            <a:ext cx="3639312" cy="2194560"/>
          </a:xfrm>
          <a:prstGeom prst="roundRect">
            <a:avLst>
              <a:gd name="adj" fmla="val 4583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270248"/>
            <a:ext cx="420624" cy="42062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42248" y="426110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Distribution &amp; Sync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03336" y="4773168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Broadcasts updated global weights back to all client nodes.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Synchronizes local models for round t + 1.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Monitors loss convergence and multi-class accuracy.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Dataset &amp; Federated Partitioning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evaluation using a real-world benchmark for intrusion and network attack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429000" cy="1014984"/>
          </a:xfrm>
          <a:prstGeom prst="roundRect">
            <a:avLst>
              <a:gd name="adj" fmla="val 9910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92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2,830,743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Network Flow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429000" cy="1014984"/>
          </a:xfrm>
          <a:prstGeom prst="roundRect">
            <a:avLst>
              <a:gd name="adj" fmla="val 9910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35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Features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502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via CICFlowMeter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069080"/>
            <a:ext cx="3429000" cy="1014984"/>
          </a:xfrm>
          <a:prstGeom prst="roundRect">
            <a:avLst>
              <a:gd name="adj" fmla="val 9910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178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Classes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7240" y="4645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Benign + 14 Cyber Attack Vectors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5212080"/>
            <a:ext cx="3429000" cy="1014984"/>
          </a:xfrm>
          <a:prstGeom prst="roundRect">
            <a:avLst>
              <a:gd name="adj" fmla="val 9910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321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Traffic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5788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Victim &amp; Attacker Testbed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1783080"/>
            <a:ext cx="7482535" cy="4709160"/>
          </a:xfrm>
          <a:prstGeom prst="roundRect">
            <a:avLst>
              <a:gd name="adj" fmla="val 2136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2057400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NON-IID PARTITIONING STRATEGY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53712" y="2606040"/>
            <a:ext cx="310896" cy="310896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560320"/>
            <a:ext cx="6385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 Partition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Infiltration, Heartbleed, and PortScan attack profiles reflecting medical IoT vulnerabilities.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53712" y="3566160"/>
            <a:ext cx="310896" cy="310896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520440"/>
            <a:ext cx="6385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 Partition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distribution of DDoS (LOIC/HOIC), DoS GoldenEye, and Brute Force SSH/FTP traffic mirroring banking threats.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53712" y="4526280"/>
            <a:ext cx="310896" cy="310896"/>
          </a:xfrm>
          <a:prstGeom prst="ellipse">
            <a:avLst/>
          </a:prstGeom>
          <a:solidFill>
            <a:srgbClr val="F59E0B">
              <a:alpha val="22000"/>
            </a:srgbClr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480560"/>
            <a:ext cx="6385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 C Partition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communication (ARES botnet), DoS Slowloris, and Web Attacks (SQLi / XSS).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26280" y="5486400"/>
            <a:ext cx="6842455" cy="868680"/>
          </a:xfrm>
          <a:prstGeom prst="roundRect">
            <a:avLst>
              <a:gd name="adj" fmla="val 11579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5486400"/>
            <a:ext cx="6568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REAL-WORLD SIGNIFICANCE  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heterogeneous Non-IID data distributions encountered in cross-silo collaborative security consortia.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&amp; Working Proof-of-Concept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prototype demonstrating decentralized training, smart contract verification, and ledger logging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160520" cy="4709160"/>
          </a:xfrm>
          <a:prstGeom prst="roundRect">
            <a:avLst>
              <a:gd name="adj" fmla="val 2418"/>
            </a:avLst>
          </a:prstGeom>
          <a:solidFill>
            <a:srgbClr val="182234"/>
          </a:solidFill>
          <a:ln w="9525">
            <a:solidFill>
              <a:srgbClr val="34D3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MILESTONE ACHIEVEMENTS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615184"/>
            <a:ext cx="329184" cy="32918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Pipeline Built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training across 3 client silos (Hospital A, Bank B, IoT Node C).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3584448"/>
            <a:ext cx="329184" cy="32918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5295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Aggregator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cryptographic verification and FedAvg weight calculation.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4553712"/>
            <a:ext cx="329184" cy="32918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4988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Ledger Logging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logged with a unique transaction hash &amp; timestamp.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5522976"/>
            <a:ext cx="329184" cy="329184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522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54681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UI
</a:t>
            </a: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telemetry, progress tracking, and on-chain state inspection.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83080"/>
            <a:ext cx="6751015" cy="3520440"/>
          </a:xfrm>
          <a:prstGeom prst="roundRect">
            <a:avLst>
              <a:gd name="adj" fmla="val 2857"/>
            </a:avLst>
          </a:prstGeom>
          <a:solidFill>
            <a:srgbClr val="141C2B"/>
          </a:solidFill>
          <a:ln w="9525">
            <a:solidFill>
              <a:srgbClr val="3B82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984248"/>
            <a:ext cx="675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Blockchain-Enabled Federated AI Framework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31343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Distributed Intelligence  •  30% Live Demo  •  Dataset: CICIDS2017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2743200"/>
            <a:ext cx="1976018" cy="2377440"/>
          </a:xfrm>
          <a:prstGeom prst="roundRect">
            <a:avLst>
              <a:gd name="adj" fmla="val 5090"/>
            </a:avLst>
          </a:prstGeom>
          <a:solidFill>
            <a:srgbClr val="0B1120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852928"/>
            <a:ext cx="1701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AGGREGATOR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49240" y="3200400"/>
            <a:ext cx="17016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3 of 3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[0.0764, -0.0191,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-0.0123, 0.0364]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25258" y="2743200"/>
            <a:ext cx="1976018" cy="2377440"/>
          </a:xfrm>
          <a:prstGeom prst="roundRect">
            <a:avLst>
              <a:gd name="adj" fmla="val 5090"/>
            </a:avLst>
          </a:prstGeom>
          <a:solidFill>
            <a:srgbClr val="0B1120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2418" y="2852928"/>
            <a:ext cx="1701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CLIENTS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62418" y="3200400"/>
            <a:ext cx="17016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Hospital A — Ready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Bank B — Ready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IoT Node C — Ready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38437" y="2743200"/>
            <a:ext cx="1976018" cy="2377440"/>
          </a:xfrm>
          <a:prstGeom prst="roundRect">
            <a:avLst>
              <a:gd name="adj" fmla="val 5090"/>
            </a:avLst>
          </a:prstGeom>
          <a:solidFill>
            <a:srgbClr val="0B1120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5597" y="2852928"/>
            <a:ext cx="1701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LEDGER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575597" y="3200400"/>
            <a:ext cx="17016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Tx: 4a591f0d7aa...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Tx: b407a0a45694...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Tx: 6abbea92abeb...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3 complete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5532120"/>
            <a:ext cx="6751015" cy="960120"/>
          </a:xfrm>
          <a:prstGeom prst="roundRect">
            <a:avLst>
              <a:gd name="adj" fmla="val 10476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553212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 </a:t>
            </a:r>
            <a:r>
              <a:rPr lang="en-US" sz="11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30% live demo interface showing the Global Aggregator, 3 Client Nodes, and Verified Blockchain Smart Contract Ledger after 3 federated rounds.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Milestones Toward 100% Project Completion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pathway from initial prototype to a production-grade decentralized AI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10512" y="1645920"/>
            <a:ext cx="8503920" cy="0"/>
          </a:xfrm>
          <a:prstGeom prst="line">
            <a:avLst/>
          </a:prstGeom>
          <a:noFill/>
          <a:ln w="25400">
            <a:solidFill>
              <a:srgbClr val="263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6776" y="1472184"/>
            <a:ext cx="347472" cy="347472"/>
          </a:xfrm>
          <a:prstGeom prst="ellipse">
            <a:avLst/>
          </a:prstGeom>
          <a:solidFill>
            <a:srgbClr val="0B11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6776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615184" cy="297180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34D399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</a:t>
            </a:r>
            <a:r>
              <a:rPr lang="en-US" sz="1100" b="1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952" y="2715768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Prototype FedAvg Pipeline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 simulation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 Contract verification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UI &amp; Ledger logging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71416" y="1472184"/>
            <a:ext cx="347472" cy="347472"/>
          </a:xfrm>
          <a:prstGeom prst="ellipse">
            <a:avLst/>
          </a:prstGeom>
          <a:solidFill>
            <a:srgbClr val="0B1120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15184" cy="297180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38BDF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93592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 </a:t>
            </a:r>
            <a:r>
              <a:rPr lang="en-US" sz="1100" b="1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93592" y="2715768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CICIDS2017 multi-class model training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PyTorch Deep Neural Network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Non-IID partitioning benchmarks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Differential Privacy (DP-SGD)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06056" y="1472184"/>
            <a:ext cx="347472" cy="347472"/>
          </a:xfrm>
          <a:prstGeom prst="ellipse">
            <a:avLst/>
          </a:prstGeom>
          <a:solidFill>
            <a:srgbClr val="0B1120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6056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2615184" cy="297180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A855F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 </a:t>
            </a:r>
            <a:r>
              <a:rPr lang="en-US" sz="1100" b="1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28232" y="2715768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Polygon/Ethereum Testnet integration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Solidity Smart Contracts with gas optimization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Byzantine fault-tolerance &amp; anomaly filtering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Zero-Knowledge Proofs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140696" y="1472184"/>
            <a:ext cx="347472" cy="347472"/>
          </a:xfrm>
          <a:prstGeom prst="ellipse">
            <a:avLst/>
          </a:prstGeom>
          <a:solidFill>
            <a:srgbClr val="0B112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0696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06840" y="1965960"/>
            <a:ext cx="2615184" cy="2971800"/>
          </a:xfrm>
          <a:prstGeom prst="roundRect">
            <a:avLst>
              <a:gd name="adj" fmla="val 3846"/>
            </a:avLst>
          </a:prstGeom>
          <a:solidFill>
            <a:srgbClr val="182234"/>
          </a:solidFill>
          <a:ln w="9525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62872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r>
              <a:rPr lang="en-US" sz="1100" b="1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62872" y="2715768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Comprehensive ablation study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Latency vs. Accuracy benchmarks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Docker orchestration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 defense &amp; research paper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5212080"/>
            <a:ext cx="11185855" cy="777240"/>
          </a:xfrm>
          <a:prstGeom prst="roundRect">
            <a:avLst>
              <a:gd name="adj" fmla="val 12941"/>
            </a:avLst>
          </a:prstGeom>
          <a:solidFill>
            <a:srgbClr val="141C2B"/>
          </a:solidFill>
          <a:ln w="9525">
            <a:solidFill>
              <a:srgbClr val="26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previous milestone's verified deliverables — no phase begins until the last is benchmarked and reviewed.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Deliverables &amp; Strategic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zero-trust, privacy-first cybersecurity intelligence framework for modern consortia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29584" cy="2834640"/>
          </a:xfrm>
          <a:prstGeom prst="roundRect">
            <a:avLst>
              <a:gd name="adj" fmla="val 3548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002536"/>
            <a:ext cx="566928" cy="566928"/>
          </a:xfrm>
          <a:prstGeom prst="ellipse">
            <a:avLst/>
          </a:prstGeom>
          <a:solidFill>
            <a:srgbClr val="3B82F6">
              <a:alpha val="22000"/>
            </a:srgbClr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3246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vulnerable central coordinators with automated, tamper-proof blockchain smart contracts, eliminating single points of failure.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529584" cy="2834640"/>
          </a:xfrm>
          <a:prstGeom prst="roundRect">
            <a:avLst>
              <a:gd name="adj" fmla="val 3548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5696" y="2002536"/>
            <a:ext cx="566928" cy="566928"/>
          </a:xfrm>
          <a:prstGeom prst="ellipse">
            <a:avLst/>
          </a:prstGeom>
          <a:solidFill>
            <a:srgbClr val="A855F7">
              <a:alpha val="22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799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Confidentiality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3246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compliance with GDPR &amp; HIPAA by keeping raw CICIDS2017 network telemetry on-premise, transmitting only cryptographically verified weight updates.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1783080"/>
            <a:ext cx="3529584" cy="2834640"/>
          </a:xfrm>
          <a:prstGeom prst="roundRect">
            <a:avLst>
              <a:gd name="adj" fmla="val 3548"/>
            </a:avLst>
          </a:prstGeom>
          <a:solidFill>
            <a:srgbClr val="182234"/>
          </a:solidFill>
          <a:ln w="9525">
            <a:solidFill>
              <a:srgbClr val="2632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2002536"/>
            <a:ext cx="566928" cy="566928"/>
          </a:xfrm>
          <a:prstGeom prst="ellipse">
            <a:avLst/>
          </a:prstGeom>
          <a:solidFill>
            <a:srgbClr val="34D399">
              <a:alpha val="2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5703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Auditability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32461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an immutable ledger tracking every training epoch, client contribution, and model hash for seamless regulatory verification.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11185855" cy="1417320"/>
          </a:xfrm>
          <a:prstGeom prst="roundRect">
            <a:avLst>
              <a:gd name="adj" fmla="val 7097"/>
            </a:avLst>
          </a:prstGeom>
          <a:solidFill>
            <a:srgbClr val="141C2B"/>
          </a:solidFill>
          <a:ln w="9525">
            <a:solidFill>
              <a:srgbClr val="38BDF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1389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559552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Blockchain-Enabled Federated AI Framework for Secure Distributed Intelligence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87044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CICIDS2017   •   Status: 30% Implementation Verified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2154</Words>
  <Application>Microsoft Office PowerPoint</Application>
  <PresentationFormat>Widescreen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Naram Sethu Harsha Vardhan</cp:lastModifiedBy>
  <cp:revision>5</cp:revision>
  <dcterms:created xsi:type="dcterms:W3CDTF">2026-09-01T02:54:33Z</dcterms:created>
  <dcterms:modified xsi:type="dcterms:W3CDTF">2026-09-01T03:49:02Z</dcterms:modified>
</cp:coreProperties>
</file>